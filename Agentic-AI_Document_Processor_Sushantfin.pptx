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Roboto Mono Medium" panose="00000009000000000000" pitchFamily="34" charset="0"/>
      <p:regular r:id="rId18"/>
    </p:embeddedFont>
    <p:embeddedFont>
      <p:font typeface="Roboto Mono Medium" panose="00000009000000000000" pitchFamily="34" charset="-122"/>
      <p:regular r:id="rId19"/>
    </p:embeddedFont>
    <p:embeddedFont>
      <p:font typeface="Roboto Mono Medium" panose="00000009000000000000" pitchFamily="34" charset="-120"/>
      <p:regular r:id="rId20"/>
    </p:embeddedFont>
    <p:embeddedFont>
      <p:font typeface="Roboto" panose="02000000000000000000" pitchFamily="34" charset="0"/>
      <p:regular r:id="rId21"/>
    </p:embeddedFont>
    <p:embeddedFont>
      <p:font typeface="Roboto" panose="02000000000000000000" pitchFamily="34" charset="-122"/>
      <p:regular r:id="rId22"/>
    </p:embeddedFont>
    <p:embeddedFont>
      <p:font typeface="Roboto" panose="02000000000000000000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29733"/>
            <a:ext cx="13042821" cy="2970014"/>
          </a:xfrm>
          <a:prstGeom prst="roundRect">
            <a:avLst>
              <a:gd name="adj" fmla="val 1146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084" y="2887028"/>
            <a:ext cx="12528233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Agentic AI Document Processor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051084" y="4979551"/>
            <a:ext cx="1252823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-Sushant Mutta (Data &amp; AI Intern)</a:t>
            </a:r>
            <a:endParaRPr lang="en-US" sz="1750" dirty="0"/>
          </a:p>
        </p:txBody>
      </p:sp>
      <p:pic>
        <p:nvPicPr>
          <p:cNvPr id="7" name="Picture 6" descr="Altimetrik-Logo_Horizontal-2Color-PMS_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6340" y="0"/>
            <a:ext cx="4544060" cy="12674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Problem Statement — The Critical Gap in Agentic AI Healthcare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24570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Healthcare is increasingly deploying autonomous AI agents for appointment scheduling, consultation summaries, prescription drafting and lab-report interpretation. Generated documents, however, may contain hallucinated dosages (15–20% risk), extreme clinical safety violations, missing regulatory fields (DEA, signatures), date inconsistencies and HIPAA PHI leaks.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6842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Consequences: patient harm, legal exposure, regulatory fines (~$1.5M avg) and provider mistrust (68% hesitant without validation).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549384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3D4D00"/>
          </a:solidFill>
        </p:spPr>
      </p:sp>
      <p:sp>
        <p:nvSpPr>
          <p:cNvPr id="7" name="Text 4"/>
          <p:cNvSpPr/>
          <p:nvPr/>
        </p:nvSpPr>
        <p:spPr>
          <a:xfrm>
            <a:off x="1530906" y="5832872"/>
            <a:ext cx="120788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Scope: Validate AI-generated documents, detect critical clinical errors, enforce HIPAA, provide audit trails and human approval gateway. Not a diagnostic or primary prescribing agent.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6922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Our Solution — Agentic Validation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810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LangGraph-based multi-agent validation system that functions as a Quality Assurance layer for autonomous healthcare AI.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7616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</p:spPr>
      </p:sp>
      <p:sp>
        <p:nvSpPr>
          <p:cNvPr id="5" name="Text 3"/>
          <p:cNvSpPr/>
          <p:nvPr/>
        </p:nvSpPr>
        <p:spPr>
          <a:xfrm>
            <a:off x="1020604" y="380297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Validate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293394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Confirm document type, structure and core clinical fields.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7616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</p:spPr>
      </p:sp>
      <p:sp>
        <p:nvSpPr>
          <p:cNvPr id="8" name="Text 6"/>
          <p:cNvSpPr/>
          <p:nvPr/>
        </p:nvSpPr>
        <p:spPr>
          <a:xfrm>
            <a:off x="7655362" y="380297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Detect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4293394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Identify life‑threatening errors, extreme dosages and date inconsistencies.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472827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</p:spPr>
      </p:sp>
      <p:sp>
        <p:nvSpPr>
          <p:cNvPr id="11" name="Text 9"/>
          <p:cNvSpPr/>
          <p:nvPr/>
        </p:nvSpPr>
        <p:spPr>
          <a:xfrm>
            <a:off x="1020604" y="56996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Redact &amp; Repair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6190059"/>
            <a:ext cx="59543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Auto-redact 18 HIPAA identifiers and auto-repair minor format issues.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472827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</p:spPr>
      </p:sp>
      <p:sp>
        <p:nvSpPr>
          <p:cNvPr id="14" name="Text 12"/>
          <p:cNvSpPr/>
          <p:nvPr/>
        </p:nvSpPr>
        <p:spPr>
          <a:xfrm>
            <a:off x="7655362" y="56996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Audit &amp; Escalate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6190059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Produce compliance-ready traces and route critical cases to humans.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64250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High-Level Architecture — Workflow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3074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End-to-end flow that enforces safety and compliance at every step.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12385671" y="5786162"/>
            <a:ext cx="1139717" cy="4391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10949315" y="5895938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9520766" y="5895938"/>
            <a:ext cx="1139716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8092217" y="5895938"/>
            <a:ext cx="1139716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6632442" y="5895938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6280190" y="6839426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Picture 4" descr="IMG-20260223-WA0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807720"/>
            <a:ext cx="4796155" cy="6970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3456"/>
            <a:ext cx="941331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Code Snippets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86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Design maps directly to typed state and modular nodes so implementation mirrors architecture.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90731"/>
            <a:ext cx="425124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ValidationState (example)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71875"/>
            <a:ext cx="62447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</a:t>
            </a:r>
            <a:r>
              <a:rPr lang="en-US" altLang="en-GB" sz="1750" dirty="0">
                <a:solidFill>
                  <a:schemeClr val="bg1"/>
                </a:solidFill>
              </a:rPr>
              <a:t>class DocState(TypedDict):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raw_text: str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file_path: str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doc_type: Optional[str]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extracted_data: Optional[dict]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validated_data: Optional[dict]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validation_flags: List[dict]  # Critical validation alerts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redacted_text: Optional[str]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errors: List[str]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trace_log: List[dict]</a:t>
            </a:r>
            <a:endParaRPr lang="en-US" altLang="en-GB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GB" sz="1750" dirty="0">
                <a:solidFill>
                  <a:schemeClr val="bg1"/>
                </a:solidFill>
              </a:rPr>
              <a:t>    repair_attempts: int</a:t>
            </a:r>
            <a:endParaRPr lang="en-US" altLang="en-GB" sz="1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62982" y="299073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LangGraph Nodes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3571875"/>
            <a:ext cx="6117788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builder.add_node("classifier", classifier_agent) builder.add_node("extractor", extractor_agent) builder.add_node("validator", validator_agent) builder.add_node("repair", repair_agent) builder.add_node("redactor", redactor_agent) builder.add_node("reporter", reporter_agent)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62982" y="5953363"/>
            <a:ext cx="611778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Conditional routing: builder.add_conditional_edges("validator", route_based_on_errors)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4055"/>
            <a:ext cx="1292923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Clinical Validation Engine — Deep Dive</a:t>
            </a:r>
            <a:endParaRPr lang="en-US" sz="445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793790" y="2176463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93790" y="2531507"/>
            <a:ext cx="6407944" cy="30480"/>
          </a:xfrm>
          <a:prstGeom prst="rect">
            <a:avLst/>
          </a:prstGeom>
          <a:solidFill>
            <a:srgbClr val="DCFF50"/>
          </a:solidFill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793790" y="270581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Date Consistency</a:t>
            </a:r>
            <a:endParaRPr lang="en-US" sz="22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93790" y="3196233"/>
            <a:ext cx="640794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if report_date &lt; collection_date → flag "Report date cannot be earlier".</a:t>
            </a:r>
            <a:endParaRPr lang="en-US" sz="17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428548" y="2176463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7428548" y="2531507"/>
            <a:ext cx="6408063" cy="30480"/>
          </a:xfrm>
          <a:prstGeom prst="rect">
            <a:avLst/>
          </a:prstGeom>
          <a:solidFill>
            <a:srgbClr val="DCFF50"/>
          </a:solidFill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7428548" y="2705814"/>
            <a:ext cx="408122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Extreme Dosage Detection</a:t>
            </a:r>
            <a:endParaRPr lang="en-US" sz="22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7428548" y="3196233"/>
            <a:ext cx="64080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if dosage_mg_per_kg &gt; 50 → severity = "CRITICAL". Unit standardisation applied first.</a:t>
            </a:r>
            <a:endParaRPr lang="en-US" sz="17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793790" y="4318873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93790" y="4673918"/>
            <a:ext cx="6407944" cy="30480"/>
          </a:xfrm>
          <a:prstGeom prst="rect">
            <a:avLst/>
          </a:prstGeom>
          <a:solidFill>
            <a:srgbClr val="DCFF50"/>
          </a:solidFill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793790" y="4848225"/>
            <a:ext cx="32309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Critical Lab Values</a:t>
            </a:r>
            <a:endParaRPr lang="en-US" sz="22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793790" y="5338643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if value &gt; (3 * upper_reference_range) → severity = "CRITICAL".</a:t>
            </a:r>
            <a:endParaRPr lang="en-US" sz="175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7428548" y="4318873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7428548" y="4673918"/>
            <a:ext cx="6408063" cy="30480"/>
          </a:xfrm>
          <a:prstGeom prst="rect">
            <a:avLst/>
          </a:prstGeom>
          <a:solidFill>
            <a:srgbClr val="DCFF50"/>
          </a:solidFill>
        </p:spPr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7428548" y="4848225"/>
            <a:ext cx="32309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DEA &amp; Format Checks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7428548" y="5338643"/>
            <a:ext cx="64080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dea_pattern = r"^\[A-Z\]{2}\\d{7}$" plus regex + Pydantic + domain rules.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48962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Layered validation: structural regex → typed validation → clinical domain rules. Pathologist signature heuristics and missing-reference detection included.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5093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HIPAA Compliance — Two‑Phase PII Engine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79627"/>
            <a:ext cx="391120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Phase 1 — LLM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60771"/>
            <a:ext cx="420516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Detects 18 PHI types: NAME, MRN, PHONE, SSN, ADDRESS, EMAIL, and others.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559981" y="3679627"/>
            <a:ext cx="476142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Phase 2 — Verified Redaction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559981" y="4260771"/>
            <a:ext cx="828413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Example: John Smith → [NAME_REDACTED]; MRN123456 → [MRN_REDACTED]. Verification step ensures redacted_text contains every detected value; metrics computed automatically.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0870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metrics: PII Recall = Redacted / Detected. PII Precision = Correct tags / Total tags. System self-verifies—no manual labelling required for operation.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6217"/>
            <a:ext cx="816578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Evaluation &amp;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91972"/>
            <a:ext cx="3048000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&gt;95%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793790" y="4423767"/>
            <a:ext cx="304800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Extraction Accuracy</a:t>
            </a:r>
            <a:endParaRPr lang="en-US" sz="2200" dirty="0"/>
          </a:p>
        </p:txBody>
      </p:sp>
      <p:sp>
        <p:nvSpPr>
          <p:cNvPr id="5" name="Text 3"/>
          <p:cNvSpPr/>
          <p:nvPr>
            <p:custDataLst>
              <p:tags r:id="rId1"/>
            </p:custDataLst>
          </p:nvPr>
        </p:nvSpPr>
        <p:spPr>
          <a:xfrm>
            <a:off x="4125278" y="3391972"/>
            <a:ext cx="3048119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&gt;95%</a:t>
            </a:r>
            <a:endParaRPr lang="en-US" sz="5850" dirty="0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231719" y="442376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PII Recall</a:t>
            </a:r>
            <a:endParaRPr lang="en-US" sz="22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456884" y="3391972"/>
            <a:ext cx="3048119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&gt;95%</a:t>
            </a:r>
            <a:endParaRPr lang="en-US" sz="58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563326" y="442376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PII Precision</a:t>
            </a:r>
            <a:endParaRPr lang="en-US" sz="2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0788491" y="3391972"/>
            <a:ext cx="3048119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&gt;95%</a:t>
            </a:r>
            <a:endParaRPr lang="en-US" sz="585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894933" y="442376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Workflow Success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538757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Robustness:  edge-case handling ~88%, DEA &amp; critical-value detection 100%. Primary LLM: Groq(</a:t>
            </a:r>
            <a:r>
              <a:rPr lang="en-US" altLang="en-GB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llama-3.3-70b-versatile)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</a:t>
            </a:r>
            <a:b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</a:b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Uptime: 99.8%.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904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Salient Features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644253" y="307145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Agent-of-Agents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561874"/>
            <a:ext cx="552914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Validation architecture mirrors upstream agents, enabling modular policy updates and clear responsibility boundaries.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307348" y="3071455"/>
            <a:ext cx="400954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Self‑Healing Repair Loop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561874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Auto-fixes for units/formatting with up to 3 retries before escalation.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644253" y="510420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Human‑in‑the‑Loop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94628"/>
            <a:ext cx="552914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Switchable modes: Auto mode for throughput, Review mode for high‑risk documents.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307348" y="5104209"/>
            <a:ext cx="400954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Audit‑Ready Traceability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94628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JSON execution traces, CSV metrics and LangSmith observability for compliance and incident review.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84634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Business &amp; Clinical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57250" y="38157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Cost &amp; Speed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7250" y="4396859"/>
            <a:ext cx="611778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Processing cost reduced ~97% (from $15–25 → $0.50 per doc). Throughput improved ~95% (manual 5–10 mins → automated 20–30s).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Scale &amp; Safety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Scales 100× (small pilots → enterprise volumes). Clinical rule coverage for critical validations at 100% for tested rule sets; improves provider trust and reduces liability.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3334"/>
            <a:ext cx="1190851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Scope for Future — Roadmap &amp; Vision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15903"/>
            <a:ext cx="6407944" cy="226814"/>
          </a:xfrm>
          <a:prstGeom prst="roundRect">
            <a:avLst>
              <a:gd name="adj" fmla="val 15001"/>
            </a:avLst>
          </a:prstGeom>
          <a:solidFill>
            <a:srgbClr val="404040"/>
          </a:solidFill>
        </p:spPr>
      </p:sp>
      <p:sp>
        <p:nvSpPr>
          <p:cNvPr id="4" name="Text 2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Phase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59950"/>
            <a:ext cx="59543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Multi-page and batch validation, handwriting recognition, image/chart validation, real-time upstream feedback.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075742"/>
            <a:ext cx="6408063" cy="226814"/>
          </a:xfrm>
          <a:prstGeom prst="roundRect">
            <a:avLst>
              <a:gd name="adj" fmla="val 15001"/>
            </a:avLst>
          </a:prstGeom>
          <a:solidFill>
            <a:srgbClr val="404040"/>
          </a:solidFill>
        </p:spPr>
      </p:sp>
      <p:sp>
        <p:nvSpPr>
          <p:cNvPr id="7" name="Text 5"/>
          <p:cNvSpPr/>
          <p:nvPr/>
        </p:nvSpPr>
        <p:spPr>
          <a:xfrm>
            <a:off x="7655362" y="352937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Phase 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4019788"/>
            <a:ext cx="595443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EHR/EMR FHIR integration, drug-interaction cross-checks, confidence-based routing, multi-language support, blockchain audit logs.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9046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Final vision: a trusted validation backbone enabling safe AI autonomy, regulatory confidence and broad provider adoption—scalable, auditable and production‑ready.</a:t>
            </a:r>
            <a:endParaRPr lang="en-US" sz="1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2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3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4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5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6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7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8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9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0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1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2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3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4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5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6.xml><?xml version="1.0" encoding="utf-8"?>
<p:tagLst xmlns:p="http://schemas.openxmlformats.org/presentationml/2006/main">
  <p:tag name="KSO_WM_DIAGRAM_VIRTUALLY_FRAME" val="{&quot;height&quot;:306.1405511811024,&quot;left&quot;:62.50314960629921,&quot;top&quot;:171.37503937007872,&quot;width&quot;:1026.9937795275594}"/>
</p:tagLst>
</file>

<file path=ppt/tags/tag17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ags/tag18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ags/tag19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ags/tag20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ags/tag21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ags/tag22.xml><?xml version="1.0" encoding="utf-8"?>
<p:tagLst xmlns:p="http://schemas.openxmlformats.org/presentationml/2006/main">
  <p:tag name="KSO_WM_DIAGRAM_VIRTUALLY_FRAME" val="{&quot;height&quot;:109.14370078740157,&quot;left&quot;:324.82503937007874,&quot;top&quot;:267.0844094488189,&quot;width&quot;:764.671811023622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4766</Words>
  <Application>WPS Presentation</Application>
  <PresentationFormat>On-screen Show (16:9)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Roboto Mono Medium</vt:lpstr>
      <vt:lpstr>Roboto Mono Medium</vt:lpstr>
      <vt:lpstr>Roboto Mono Medium</vt:lpstr>
      <vt:lpstr>Roboto</vt:lpstr>
      <vt:lpstr>Roboto</vt:lpstr>
      <vt:lpstr>Roboto</vt:lpstr>
      <vt:lpstr>Roboto Mono Light</vt:lpstr>
      <vt:lpstr>Segoe Print</vt:lpstr>
      <vt:lpstr>Roboto Mono Light</vt:lpstr>
      <vt:lpstr>Roboto Mono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Sushant S</cp:lastModifiedBy>
  <cp:revision>7</cp:revision>
  <dcterms:created xsi:type="dcterms:W3CDTF">2026-02-18T09:50:00Z</dcterms:created>
  <dcterms:modified xsi:type="dcterms:W3CDTF">2026-02-23T15:09:26Z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E9EFC39793434F3F986AE06942DCE694_13</vt:lpwstr>
  </property>
  <property fmtid="{D5CDD505-2E9C-101B-9397-08002B2CF9AE}" pid="3" name="KSOProductBuildVer">
    <vt:lpwstr>2057-12.2.0.23197</vt:lpwstr>
  </property>
</Properties>
</file>